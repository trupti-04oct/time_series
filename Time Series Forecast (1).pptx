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8bigjUeEkdvrChM3qz+e4AUHX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9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34200" y="116292"/>
            <a:ext cx="1981200" cy="512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7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7"/>
          <p:cNvSpPr txBox="1"/>
          <p:nvPr/>
        </p:nvSpPr>
        <p:spPr>
          <a:xfrm>
            <a:off x="0" y="4869656"/>
            <a:ext cx="3276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DataMites™. All Rights Reserved | www.datamites.com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9.jpg"/><Relationship Id="rId5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9.jpg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2667000" y="774505"/>
            <a:ext cx="6477000" cy="12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cap="none"/>
              <a:t>Time Series Forecasting</a:t>
            </a:r>
            <a:endParaRPr b="0" cap="none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3755" y="3289511"/>
            <a:ext cx="3316347" cy="85799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3210627" y="2248732"/>
            <a:ext cx="5643212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Accredited with IABAC™</a:t>
            </a:r>
            <a:br>
              <a:rPr b="0" i="0" lang="en-US" sz="2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 International Association of Business Analytics Certifications)`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national Association of Business Analytics Certification"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254" y="3346350"/>
            <a:ext cx="3316347" cy="760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robot" id="93" name="Google Shape;9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07" y="366471"/>
            <a:ext cx="2765438" cy="2765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Course Topics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457200" y="1123950"/>
            <a:ext cx="85344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 sz="2400"/>
              <a:t>What is Time Series?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 sz="2400"/>
              <a:t>Trend, Seasonality, cyclical and random 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 sz="2400"/>
              <a:t>White Noise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 sz="2400"/>
              <a:t>AutoRegressive Model (AR)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 sz="2400"/>
              <a:t>Moving Average Model (MA)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 sz="2400"/>
              <a:t>ARMA Model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 sz="2400"/>
              <a:t>Stationarity of Time Series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 sz="2400"/>
              <a:t>ARIMA Model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 sz="2400"/>
              <a:t>Autocorrelation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lang="en-US" sz="2400"/>
              <a:t>Akaike Information Critera (AIC) 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What is Time Series?</a:t>
            </a:r>
            <a:endParaRPr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Time series is a set of observations on the values that a variable takes at different times.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Examples: Sales trend, stock market prices, weather forecasts etc.,</a:t>
            </a:r>
            <a:endParaRPr/>
          </a:p>
        </p:txBody>
      </p:sp>
      <p:sp>
        <p:nvSpPr>
          <p:cNvPr id="106" name="Google Shape;106;p3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DATA SCIENCE</a:t>
            </a:r>
            <a:endParaRPr/>
          </a:p>
        </p:txBody>
      </p:sp>
      <p:sp>
        <p:nvSpPr>
          <p:cNvPr id="107" name="Google Shape;107;p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Time Series Data Patterns</a:t>
            </a:r>
            <a:endParaRPr/>
          </a:p>
        </p:txBody>
      </p:sp>
      <p:sp>
        <p:nvSpPr>
          <p:cNvPr id="113" name="Google Shape;113;p4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1200150"/>
            <a:ext cx="317399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359" y="2981325"/>
            <a:ext cx="2574473" cy="1689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5746" y="3134803"/>
            <a:ext cx="3631454" cy="158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/>
          <p:cNvPicPr preferRelativeResize="0"/>
          <p:nvPr/>
        </p:nvPicPr>
        <p:blipFill rotWithShape="1">
          <a:blip r:embed="rId6">
            <a:alphaModFix/>
          </a:blip>
          <a:srcRect b="0" l="0" r="0" t="15084"/>
          <a:stretch/>
        </p:blipFill>
        <p:spPr>
          <a:xfrm>
            <a:off x="4445746" y="1200150"/>
            <a:ext cx="3855118" cy="193465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>
            <p:ph idx="11" type="ftr"/>
          </p:nvPr>
        </p:nvSpPr>
        <p:spPr>
          <a:xfrm>
            <a:off x="3810000" y="486965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DATA SCIENCE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White Noise</a:t>
            </a:r>
            <a:endParaRPr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series purely random in nature is called as white noise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Mean =0, constant variance and un corellated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Average is best forecast of this series.</a:t>
            </a:r>
            <a:endParaRPr/>
          </a:p>
        </p:txBody>
      </p:sp>
      <p:sp>
        <p:nvSpPr>
          <p:cNvPr id="125" name="Google Shape;125;p5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5"/>
          <p:cNvSpPr txBox="1"/>
          <p:nvPr>
            <p:ph idx="11" type="ftr"/>
          </p:nvPr>
        </p:nvSpPr>
        <p:spPr>
          <a:xfrm>
            <a:off x="3810000" y="486965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DATA SCIENCE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AutoRegressive  (AR) Model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3810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Y</a:t>
            </a:r>
            <a:r>
              <a:rPr baseline="-25000" lang="en-US"/>
              <a:t>t</a:t>
            </a:r>
            <a:r>
              <a:rPr lang="en-US"/>
              <a:t> depends only of past values. Y</a:t>
            </a:r>
            <a:r>
              <a:rPr baseline="-25000" lang="en-US"/>
              <a:t>t-1</a:t>
            </a:r>
            <a:r>
              <a:rPr lang="en-US"/>
              <a:t>, Y</a:t>
            </a:r>
            <a:r>
              <a:rPr baseline="-25000" lang="en-US"/>
              <a:t>t-2</a:t>
            </a:r>
            <a:r>
              <a:rPr lang="en-US"/>
              <a:t>, Y</a:t>
            </a:r>
            <a:r>
              <a:rPr baseline="-25000" lang="en-US"/>
              <a:t>t-3 etc</a:t>
            </a:r>
            <a:endParaRPr baseline="-250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aseline="-25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     Y</a:t>
            </a:r>
            <a:r>
              <a:rPr baseline="-25000" lang="en-US"/>
              <a:t>t</a:t>
            </a:r>
            <a:r>
              <a:rPr lang="en-US"/>
              <a:t>  = f(Y</a:t>
            </a:r>
            <a:r>
              <a:rPr baseline="-25000" lang="en-US"/>
              <a:t>t-1</a:t>
            </a:r>
            <a:r>
              <a:rPr lang="en-US"/>
              <a:t>, Y</a:t>
            </a:r>
            <a:r>
              <a:rPr baseline="-25000" lang="en-US"/>
              <a:t>t-2</a:t>
            </a:r>
            <a:r>
              <a:rPr lang="en-US"/>
              <a:t>, Y</a:t>
            </a:r>
            <a:r>
              <a:rPr baseline="-25000" lang="en-US"/>
              <a:t>t-3… 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Y</a:t>
            </a:r>
            <a:r>
              <a:rPr baseline="-25000" lang="en-US"/>
              <a:t>t</a:t>
            </a:r>
            <a:r>
              <a:rPr lang="en-US"/>
              <a:t> = β</a:t>
            </a:r>
            <a:r>
              <a:rPr baseline="-25000" lang="en-US"/>
              <a:t>0</a:t>
            </a:r>
            <a:r>
              <a:rPr lang="en-US"/>
              <a:t> + β</a:t>
            </a:r>
            <a:r>
              <a:rPr baseline="-25000" lang="en-US"/>
              <a:t>1</a:t>
            </a:r>
            <a:r>
              <a:rPr lang="en-US"/>
              <a:t>Y</a:t>
            </a:r>
            <a:r>
              <a:rPr baseline="-25000" lang="en-US"/>
              <a:t>t-1 </a:t>
            </a:r>
            <a:r>
              <a:rPr lang="en-US"/>
              <a:t>+ β</a:t>
            </a:r>
            <a:r>
              <a:rPr baseline="-25000" lang="en-US"/>
              <a:t>2</a:t>
            </a:r>
            <a:r>
              <a:rPr lang="en-US"/>
              <a:t>Y</a:t>
            </a:r>
            <a:r>
              <a:rPr baseline="-25000" lang="en-US"/>
              <a:t>t-2 </a:t>
            </a:r>
            <a:r>
              <a:rPr lang="en-US"/>
              <a:t>+ β</a:t>
            </a:r>
            <a:r>
              <a:rPr baseline="-25000" lang="en-US"/>
              <a:t>3</a:t>
            </a:r>
            <a:r>
              <a:rPr lang="en-US"/>
              <a:t>Y</a:t>
            </a:r>
            <a:r>
              <a:rPr baseline="-25000" lang="en-US"/>
              <a:t>t-3 </a:t>
            </a:r>
            <a:r>
              <a:rPr lang="en-US"/>
              <a:t>…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6"/>
          <p:cNvSpPr txBox="1"/>
          <p:nvPr>
            <p:ph idx="11" type="ftr"/>
          </p:nvPr>
        </p:nvSpPr>
        <p:spPr>
          <a:xfrm>
            <a:off x="3810000" y="486965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DATA SCIENCE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Moving Average (MA) Model</a:t>
            </a:r>
            <a:endParaRPr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Y</a:t>
            </a:r>
            <a:r>
              <a:rPr baseline="-25000" lang="en-US"/>
              <a:t>t</a:t>
            </a:r>
            <a:r>
              <a:rPr lang="en-US"/>
              <a:t> depends only on random error terms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	Y</a:t>
            </a:r>
            <a:r>
              <a:rPr baseline="-25000" lang="en-US"/>
              <a:t>t</a:t>
            </a:r>
            <a:r>
              <a:rPr lang="en-US"/>
              <a:t> = f( ε</a:t>
            </a:r>
            <a:r>
              <a:rPr baseline="-25000" lang="en-US"/>
              <a:t>t, </a:t>
            </a:r>
            <a:r>
              <a:rPr lang="en-US"/>
              <a:t>ε</a:t>
            </a:r>
            <a:r>
              <a:rPr baseline="-25000" lang="en-US"/>
              <a:t>t-1, </a:t>
            </a:r>
            <a:r>
              <a:rPr lang="en-US"/>
              <a:t>ε</a:t>
            </a:r>
            <a:r>
              <a:rPr baseline="-25000" lang="en-US"/>
              <a:t>t-2, </a:t>
            </a:r>
            <a:r>
              <a:rPr lang="en-US"/>
              <a:t>ε</a:t>
            </a:r>
            <a:r>
              <a:rPr baseline="-25000" lang="en-US"/>
              <a:t>t-3, ..)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aseline="-25000" lang="en-US"/>
              <a:t>		or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	Y</a:t>
            </a:r>
            <a:r>
              <a:rPr baseline="-25000" lang="en-US"/>
              <a:t>t</a:t>
            </a:r>
            <a:r>
              <a:rPr lang="en-US"/>
              <a:t> = β + ε</a:t>
            </a:r>
            <a:r>
              <a:rPr baseline="-25000" lang="en-US"/>
              <a:t>t </a:t>
            </a:r>
            <a:r>
              <a:rPr lang="en-US"/>
              <a:t>+ θ</a:t>
            </a:r>
            <a:r>
              <a:rPr baseline="-25000" lang="en-US"/>
              <a:t>1 </a:t>
            </a:r>
            <a:r>
              <a:rPr lang="en-US"/>
              <a:t>ε</a:t>
            </a:r>
            <a:r>
              <a:rPr baseline="-25000" lang="en-US"/>
              <a:t>t-1</a:t>
            </a:r>
            <a:r>
              <a:rPr lang="en-US"/>
              <a:t> + θ</a:t>
            </a:r>
            <a:r>
              <a:rPr baseline="-25000" lang="en-US"/>
              <a:t>2</a:t>
            </a:r>
            <a:r>
              <a:rPr lang="en-US"/>
              <a:t>ε</a:t>
            </a:r>
            <a:r>
              <a:rPr baseline="-25000" lang="en-US"/>
              <a:t>t-2</a:t>
            </a:r>
            <a:r>
              <a:rPr lang="en-US"/>
              <a:t> + θ</a:t>
            </a:r>
            <a:r>
              <a:rPr baseline="-25000" lang="en-US"/>
              <a:t>3 </a:t>
            </a:r>
            <a:r>
              <a:rPr lang="en-US"/>
              <a:t>ε</a:t>
            </a:r>
            <a:r>
              <a:rPr baseline="-25000" lang="en-US"/>
              <a:t>t-3 +…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aseline="-25000"/>
          </a:p>
        </p:txBody>
      </p:sp>
      <p:sp>
        <p:nvSpPr>
          <p:cNvPr id="141" name="Google Shape;141;p7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7"/>
          <p:cNvSpPr txBox="1"/>
          <p:nvPr>
            <p:ph idx="11" type="ftr"/>
          </p:nvPr>
        </p:nvSpPr>
        <p:spPr>
          <a:xfrm>
            <a:off x="3810000" y="486965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DATA SCIENCE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ARMA Model</a:t>
            </a:r>
            <a:endParaRPr/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Combines AR and MA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Y</a:t>
            </a:r>
            <a:r>
              <a:rPr baseline="-25000" lang="en-US"/>
              <a:t>t</a:t>
            </a:r>
            <a:r>
              <a:rPr lang="en-US"/>
              <a:t> =</a:t>
            </a:r>
            <a:r>
              <a:rPr baseline="-25000" lang="en-US"/>
              <a:t> </a:t>
            </a:r>
            <a:r>
              <a:rPr lang="en-US"/>
              <a:t>β</a:t>
            </a:r>
            <a:r>
              <a:rPr baseline="-25000" lang="en-US"/>
              <a:t>0</a:t>
            </a:r>
            <a:r>
              <a:rPr lang="en-US"/>
              <a:t> + β</a:t>
            </a:r>
            <a:r>
              <a:rPr baseline="-25000" lang="en-US"/>
              <a:t>1</a:t>
            </a:r>
            <a:r>
              <a:rPr lang="en-US"/>
              <a:t>Y</a:t>
            </a:r>
            <a:r>
              <a:rPr baseline="-25000" lang="en-US"/>
              <a:t>t-1 </a:t>
            </a:r>
            <a:r>
              <a:rPr lang="en-US"/>
              <a:t>+ β</a:t>
            </a:r>
            <a:r>
              <a:rPr baseline="-25000" lang="en-US"/>
              <a:t>2</a:t>
            </a:r>
            <a:r>
              <a:rPr lang="en-US"/>
              <a:t>Y</a:t>
            </a:r>
            <a:r>
              <a:rPr baseline="-25000" lang="en-US"/>
              <a:t>t-2 </a:t>
            </a:r>
            <a:r>
              <a:rPr lang="en-US"/>
              <a:t>+ β</a:t>
            </a:r>
            <a:r>
              <a:rPr baseline="-25000" lang="en-US"/>
              <a:t>3</a:t>
            </a:r>
            <a:r>
              <a:rPr lang="en-US"/>
              <a:t>Y</a:t>
            </a:r>
            <a:r>
              <a:rPr baseline="-25000" lang="en-US"/>
              <a:t>t-3 </a:t>
            </a:r>
            <a:r>
              <a:rPr lang="en-US"/>
              <a:t>…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		ε</a:t>
            </a:r>
            <a:r>
              <a:rPr baseline="-25000" lang="en-US"/>
              <a:t>t </a:t>
            </a:r>
            <a:r>
              <a:rPr lang="en-US"/>
              <a:t>+ θ</a:t>
            </a:r>
            <a:r>
              <a:rPr baseline="-25000" lang="en-US"/>
              <a:t>1 </a:t>
            </a:r>
            <a:r>
              <a:rPr lang="en-US"/>
              <a:t>ε</a:t>
            </a:r>
            <a:r>
              <a:rPr baseline="-25000" lang="en-US"/>
              <a:t>t-1</a:t>
            </a:r>
            <a:r>
              <a:rPr lang="en-US"/>
              <a:t> + θ</a:t>
            </a:r>
            <a:r>
              <a:rPr baseline="-25000" lang="en-US"/>
              <a:t>2</a:t>
            </a:r>
            <a:r>
              <a:rPr lang="en-US"/>
              <a:t>ε</a:t>
            </a:r>
            <a:r>
              <a:rPr baseline="-25000" lang="en-US"/>
              <a:t>t-2</a:t>
            </a:r>
            <a:r>
              <a:rPr lang="en-US"/>
              <a:t> + θ</a:t>
            </a:r>
            <a:r>
              <a:rPr baseline="-25000" lang="en-US"/>
              <a:t>3 </a:t>
            </a:r>
            <a:r>
              <a:rPr lang="en-US"/>
              <a:t>ε</a:t>
            </a:r>
            <a:r>
              <a:rPr baseline="-25000" lang="en-US"/>
              <a:t>t-3 +…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aseline="-25000"/>
          </a:p>
        </p:txBody>
      </p:sp>
      <p:sp>
        <p:nvSpPr>
          <p:cNvPr id="149" name="Google Shape;149;p8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8"/>
          <p:cNvSpPr txBox="1"/>
          <p:nvPr>
            <p:ph idx="11" type="ftr"/>
          </p:nvPr>
        </p:nvSpPr>
        <p:spPr>
          <a:xfrm>
            <a:off x="3810000" y="486965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DATA SCIENCE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Stationarity of Time Series</a:t>
            </a:r>
            <a:endParaRPr/>
          </a:p>
        </p:txBody>
      </p:sp>
      <p:sp>
        <p:nvSpPr>
          <p:cNvPr id="156" name="Google Shape;156;p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series is said to be “strictly stationary”, if the mean, variance and covariance is constant over period of time or time invariant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series which is not stationary can be made stationary after differencing.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After differencing once, series is called as integrated of order 1 and denoted by I(1). In general I(d)</a:t>
            </a:r>
            <a:endParaRPr/>
          </a:p>
        </p:txBody>
      </p:sp>
      <p:sp>
        <p:nvSpPr>
          <p:cNvPr id="157" name="Google Shape;157;p9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9"/>
          <p:cNvSpPr txBox="1"/>
          <p:nvPr>
            <p:ph idx="11" type="ftr"/>
          </p:nvPr>
        </p:nvSpPr>
        <p:spPr>
          <a:xfrm>
            <a:off x="3810000" y="486965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DATA SCIENCE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Why Stationarity?</a:t>
            </a:r>
            <a:endParaRPr/>
          </a:p>
        </p:txBody>
      </p:sp>
      <p:sp>
        <p:nvSpPr>
          <p:cNvPr id="164" name="Google Shape;164;p10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Most models assume stationarity of  data. In other words, standard techniques are invalid if data is non-stationary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Autocorrelation may result due to non-stationarity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Autoregression results in spurious regressions</a:t>
            </a:r>
            <a:endParaRPr/>
          </a:p>
        </p:txBody>
      </p:sp>
      <p:sp>
        <p:nvSpPr>
          <p:cNvPr id="165" name="Google Shape;165;p10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10"/>
          <p:cNvSpPr txBox="1"/>
          <p:nvPr>
            <p:ph idx="11" type="ftr"/>
          </p:nvPr>
        </p:nvSpPr>
        <p:spPr>
          <a:xfrm>
            <a:off x="3810000" y="486965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DATA SCIENCE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ARIMA Model</a:t>
            </a:r>
            <a:endParaRPr/>
          </a:p>
        </p:txBody>
      </p:sp>
      <p:sp>
        <p:nvSpPr>
          <p:cNvPr id="172" name="Google Shape;172;p1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ARIMA : AutoRegressive Integrated Moving Average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aseline="-25000" lang="en-US"/>
              <a:t>Combines all there methods.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aseline="-25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aseline="-25000"/>
          </a:p>
        </p:txBody>
      </p:sp>
      <p:sp>
        <p:nvSpPr>
          <p:cNvPr id="173" name="Google Shape;173;p11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11"/>
          <p:cNvSpPr txBox="1"/>
          <p:nvPr>
            <p:ph idx="11" type="ftr"/>
          </p:nvPr>
        </p:nvSpPr>
        <p:spPr>
          <a:xfrm>
            <a:off x="3810000" y="486965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DATA SCIENCE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Autocorrelation</a:t>
            </a:r>
            <a:endParaRPr/>
          </a:p>
        </p:txBody>
      </p:sp>
      <p:sp>
        <p:nvSpPr>
          <p:cNvPr id="180" name="Google Shape;180;p12"/>
          <p:cNvSpPr txBox="1"/>
          <p:nvPr>
            <p:ph idx="1" type="body"/>
          </p:nvPr>
        </p:nvSpPr>
        <p:spPr>
          <a:xfrm>
            <a:off x="457200" y="1200151"/>
            <a:ext cx="86868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Autocorrelation is the similarity between observations as a function of the time lag between them.</a:t>
            </a:r>
            <a:endParaRPr sz="2800"/>
          </a:p>
        </p:txBody>
      </p:sp>
      <p:sp>
        <p:nvSpPr>
          <p:cNvPr id="181" name="Google Shape;181;p1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099802"/>
            <a:ext cx="4191000" cy="263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2"/>
          <p:cNvSpPr txBox="1"/>
          <p:nvPr>
            <p:ph idx="11" type="ftr"/>
          </p:nvPr>
        </p:nvSpPr>
        <p:spPr>
          <a:xfrm>
            <a:off x="3810000" y="486965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DATA SCIENCE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type="title"/>
          </p:nvPr>
        </p:nvSpPr>
        <p:spPr>
          <a:xfrm>
            <a:off x="457200" y="133350"/>
            <a:ext cx="58674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Akaike Information </a:t>
            </a:r>
            <a:r>
              <a:rPr lang="en-US"/>
              <a:t>Criterion</a:t>
            </a:r>
            <a:r>
              <a:rPr lang="en-US"/>
              <a:t> (</a:t>
            </a:r>
            <a:r>
              <a:rPr b="1" lang="en-US"/>
              <a:t>AIC</a:t>
            </a:r>
            <a:r>
              <a:rPr lang="en-US"/>
              <a:t>) </a:t>
            </a:r>
            <a:endParaRPr/>
          </a:p>
        </p:txBody>
      </p:sp>
      <p:sp>
        <p:nvSpPr>
          <p:cNvPr id="189" name="Google Shape;189;p1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 The AIC is defined by a simple equation from the sum-of-squares and number of degrees of freedom of the two models</a:t>
            </a:r>
            <a:endParaRPr/>
          </a:p>
        </p:txBody>
      </p:sp>
      <p:sp>
        <p:nvSpPr>
          <p:cNvPr id="190" name="Google Shape;190;p1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1" name="Google Shape;1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800350"/>
            <a:ext cx="5501439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3"/>
          <p:cNvSpPr txBox="1"/>
          <p:nvPr>
            <p:ph idx="11" type="ftr"/>
          </p:nvPr>
        </p:nvSpPr>
        <p:spPr>
          <a:xfrm>
            <a:off x="3810000" y="486965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DATA SCIENCE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Modeling in Python</a:t>
            </a:r>
            <a:endParaRPr/>
          </a:p>
        </p:txBody>
      </p:sp>
      <p:sp>
        <p:nvSpPr>
          <p:cNvPr id="198" name="Google Shape;198;p1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Modeling Time Series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(attached in resource section of this module)</a:t>
            </a:r>
            <a:endParaRPr/>
          </a:p>
        </p:txBody>
      </p:sp>
      <p:sp>
        <p:nvSpPr>
          <p:cNvPr id="199" name="Google Shape;199;p14"/>
          <p:cNvSpPr txBox="1"/>
          <p:nvPr>
            <p:ph idx="11" type="ftr"/>
          </p:nvPr>
        </p:nvSpPr>
        <p:spPr>
          <a:xfrm>
            <a:off x="3810000" y="486965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DATA SCIENCE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 txBox="1"/>
          <p:nvPr/>
        </p:nvSpPr>
        <p:spPr>
          <a:xfrm>
            <a:off x="4572000" y="1200150"/>
            <a:ext cx="3334824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Q&amp;A Session</a:t>
            </a:r>
            <a:endParaRPr sz="3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machine learning" id="205" name="Google Shape;2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90550"/>
            <a:ext cx="3295650" cy="329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2897805"/>
            <a:ext cx="2827245" cy="73145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6"/>
          <p:cNvSpPr txBox="1"/>
          <p:nvPr/>
        </p:nvSpPr>
        <p:spPr>
          <a:xfrm>
            <a:off x="491359" y="3943350"/>
            <a:ext cx="8382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+1 415 8522477 </a:t>
            </a:r>
            <a:r>
              <a:rPr b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(USA)  | </a:t>
            </a:r>
            <a:r>
              <a:rPr b="1" lang="en-US" sz="20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1800 200 6848 </a:t>
            </a:r>
            <a:r>
              <a:rPr b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(India Toll Free) | </a:t>
            </a:r>
            <a:r>
              <a:rPr b="1" lang="en-US" sz="2000">
                <a:solidFill>
                  <a:srgbClr val="E36C09"/>
                </a:solidFill>
                <a:latin typeface="Calibri"/>
                <a:ea typeface="Calibri"/>
                <a:cs typeface="Calibri"/>
                <a:sym typeface="Calibri"/>
              </a:rPr>
              <a:t>enquiry@datamites.com</a:t>
            </a:r>
            <a:endParaRPr b="1" sz="2000">
              <a:solidFill>
                <a:srgbClr val="E36C0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national Association of Business Analytics Certification" id="212" name="Google Shape;2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359" y="2869065"/>
            <a:ext cx="3316347" cy="760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213" name="Google Shape;2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7359" y="330770"/>
            <a:ext cx="38100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